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899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/>
          <p:nvPr/>
        </p:nvSpPr>
        <p:spPr>
          <a:xfrm>
            <a:off x="0" y="0"/>
            <a:ext cx="9144000" cy="131673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University logo" descr="/tmp/w/build/logo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201168"/>
            <a:ext cx="1014984" cy="1014984"/>
          </a:xfrm>
          <a:prstGeom prst="rect">
            <a:avLst/>
          </a:prstGeom>
        </p:spPr>
      </p:pic>
      <p:pic>
        <p:nvPicPr>
          <p:cNvPr id="4" name="ARMSS logo" descr="/tmp/w/build/logo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137160"/>
            <a:ext cx="1088136" cy="1051560"/>
          </a:xfrm>
          <a:prstGeom prst="rect">
            <a:avLst/>
          </a:prstGeom>
        </p:spPr>
      </p:pic>
      <p:sp>
        <p:nvSpPr>
          <p:cNvPr id="5" name="Event name"/>
          <p:cNvSpPr txBox="1"/>
          <p:nvPr/>
        </p:nvSpPr>
        <p:spPr>
          <a:xfrm>
            <a:off x="1847088" y="457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i="1" kern="0" spc="600" dirty="0">
                <a:solidFill>
                  <a:srgbClr val="14284B"/>
                </a:solidFill>
              </a:rPr>
              <a:t>BuildFest 2.0</a:t>
            </a:r>
            <a:endParaRPr lang="en-US" sz="3000" dirty="0"/>
          </a:p>
        </p:txBody>
      </p:sp>
      <p:sp>
        <p:nvSpPr>
          <p:cNvPr id="6" name="Gold dashed rule"/>
          <p:cNvSpPr/>
          <p:nvPr/>
        </p:nvSpPr>
        <p:spPr>
          <a:xfrm>
            <a:off x="0" y="1316736"/>
            <a:ext cx="9144000" cy="0"/>
          </a:xfrm>
          <a:prstGeom prst="line">
            <a:avLst/>
          </a:prstGeom>
          <a:noFill/>
          <a:ln w="15875">
            <a:solidFill>
              <a:srgbClr val="B0801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PS number"/>
          <p:cNvSpPr txBox="1"/>
          <p:nvPr/>
        </p:nvSpPr>
        <p:spPr>
          <a:xfrm>
            <a:off x="658368" y="14630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3A71B"/>
                </a:solidFill>
              </a:rPr>
              <a:t>PS-18</a:t>
            </a:r>
            <a:endParaRPr lang="en-US" sz="4000" dirty="0"/>
          </a:p>
        </p:txBody>
      </p:sp>
      <p:sp>
        <p:nvSpPr>
          <p:cNvPr id="8" name="Problem statement"/>
          <p:cNvSpPr txBox="1"/>
          <p:nvPr/>
        </p:nvSpPr>
        <p:spPr>
          <a:xfrm>
            <a:off x="658368" y="208483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AI-Powered Heavy Rainfall Forecasting and Urban Flood Early Warning System for Indian Cities</a:t>
            </a:r>
            <a:endParaRPr lang="en-US" sz="2200" dirty="0"/>
          </a:p>
        </p:txBody>
      </p:sp>
      <p:sp>
        <p:nvSpPr>
          <p:cNvPr id="9" name="Category and theme"/>
          <p:cNvSpPr txBox="1"/>
          <p:nvPr/>
        </p:nvSpPr>
        <p:spPr>
          <a:xfrm>
            <a:off x="658368" y="2926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D3DF"/>
                </a:solidFill>
              </a:rPr>
              <a:t>Software: AI/ML, Data Science and GIS  |  Disaster Management, Smart Automation and Climate Resilience</a:t>
            </a:r>
            <a:endParaRPr lang="en-US" sz="1150" dirty="0"/>
          </a:p>
        </p:txBody>
      </p:sp>
      <p:sp>
        <p:nvSpPr>
          <p:cNvPr id="10" name="Team name"/>
          <p:cNvSpPr txBox="1"/>
          <p:nvPr/>
        </p:nvSpPr>
        <p:spPr>
          <a:xfrm>
            <a:off x="640080" y="33101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22B5C9"/>
                </a:solidFill>
              </a:rPr>
              <a:t>Team: </a:t>
            </a:r>
            <a:r>
              <a:rPr lang="en-US" sz="1700" b="1" i="1" dirty="0" err="1">
                <a:solidFill>
                  <a:srgbClr val="22B5C9"/>
                </a:solidFill>
              </a:rPr>
              <a:t>TryAgain</a:t>
            </a:r>
            <a:r>
              <a:rPr lang="en-US" sz="1700" i="1" dirty="0">
                <a:solidFill>
                  <a:srgbClr val="E6EEF7"/>
                </a:solidFill>
              </a:rPr>
              <a:t>  |  Project: </a:t>
            </a:r>
            <a:r>
              <a:rPr lang="en-US" sz="1400" i="1" dirty="0">
                <a:solidFill>
                  <a:srgbClr val="E6EEF7"/>
                </a:solidFill>
              </a:rPr>
              <a:t>AURA-Autonomous Urban rainfall and Assessment system</a:t>
            </a:r>
            <a:endParaRPr lang="en-US" sz="1400" dirty="0"/>
          </a:p>
        </p:txBody>
      </p:sp>
      <p:sp>
        <p:nvSpPr>
          <p:cNvPr id="11" name="Members"/>
          <p:cNvSpPr txBox="1"/>
          <p:nvPr/>
        </p:nvSpPr>
        <p:spPr>
          <a:xfrm>
            <a:off x="658368" y="3749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BCD3"/>
                </a:solidFill>
              </a:rPr>
              <a:t>Vanshikaa ▪ Niharika ▪ Palak</a:t>
            </a:r>
            <a:endParaRPr lang="en-US" sz="1500" dirty="0"/>
          </a:p>
        </p:txBody>
      </p:sp>
      <p:sp>
        <p:nvSpPr>
          <p:cNvPr id="12" name="Department"/>
          <p:cNvSpPr txBox="1"/>
          <p:nvPr/>
        </p:nvSpPr>
        <p:spPr>
          <a:xfrm>
            <a:off x="658368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6EEF7"/>
                </a:solidFill>
              </a:rPr>
              <a:t>Electronics and Communication</a:t>
            </a:r>
            <a:endParaRPr lang="en-US" sz="1500" dirty="0"/>
          </a:p>
        </p:txBody>
      </p:sp>
      <p:sp>
        <p:nvSpPr>
          <p:cNvPr id="13" name="University"/>
          <p:cNvSpPr txBox="1"/>
          <p:nvPr/>
        </p:nvSpPr>
        <p:spPr>
          <a:xfrm>
            <a:off x="658368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</a:rPr>
              <a:t>Guru Nanak Dev University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 1"/>
          <p:cNvSpPr/>
          <p:nvPr/>
        </p:nvSpPr>
        <p:spPr>
          <a:xfrm>
            <a:off x="0" y="0"/>
            <a:ext cx="9144000" cy="552298"/>
          </a:xfrm>
          <a:prstGeom prst="rect">
            <a:avLst/>
          </a:prstGeom>
          <a:solidFill>
            <a:srgbClr val="14284B"/>
          </a:solidFill>
          <a:ln w="3175">
            <a:solidFill>
              <a:srgbClr val="142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Bar 2"/>
          <p:cNvSpPr/>
          <p:nvPr/>
        </p:nvSpPr>
        <p:spPr>
          <a:xfrm>
            <a:off x="0" y="552298"/>
            <a:ext cx="9144000" cy="27432"/>
          </a:xfrm>
          <a:prstGeom prst="rect">
            <a:avLst/>
          </a:prstGeom>
          <a:solidFill>
            <a:srgbClr val="22B5C9"/>
          </a:solidFill>
          <a:ln w="3175">
            <a:solidFill>
              <a:srgbClr val="22B5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Bar 3"/>
          <p:cNvSpPr/>
          <p:nvPr/>
        </p:nvSpPr>
        <p:spPr>
          <a:xfrm>
            <a:off x="0" y="4892040"/>
            <a:ext cx="3840480" cy="251460"/>
          </a:xfrm>
          <a:prstGeom prst="rect">
            <a:avLst/>
          </a:prstGeom>
          <a:solidFill>
            <a:srgbClr val="14284B"/>
          </a:solidFill>
          <a:ln w="3175">
            <a:solidFill>
              <a:srgbClr val="142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Bar 4"/>
          <p:cNvSpPr/>
          <p:nvPr/>
        </p:nvSpPr>
        <p:spPr>
          <a:xfrm>
            <a:off x="3840480" y="4892040"/>
            <a:ext cx="4206240" cy="251460"/>
          </a:xfrm>
          <a:prstGeom prst="rect">
            <a:avLst/>
          </a:prstGeom>
          <a:solidFill>
            <a:srgbClr val="2E6DA4"/>
          </a:solidFill>
          <a:ln w="3175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Bar 5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solidFill>
            <a:srgbClr val="B08010"/>
          </a:solidFill>
          <a:ln w="3175">
            <a:solidFill>
              <a:srgbClr val="B080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title"/>
          <p:cNvSpPr txBox="1"/>
          <p:nvPr/>
        </p:nvSpPr>
        <p:spPr>
          <a:xfrm>
            <a:off x="576072" y="0"/>
            <a:ext cx="6766560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PROPOSED SOLUTION</a:t>
            </a:r>
            <a:endParaRPr lang="en-US" sz="2000" dirty="0"/>
          </a:p>
        </p:txBody>
      </p:sp>
      <p:sp>
        <p:nvSpPr>
          <p:cNvPr id="8" name="Footer team"/>
          <p:cNvSpPr txBox="1"/>
          <p:nvPr/>
        </p:nvSpPr>
        <p:spPr>
          <a:xfrm>
            <a:off x="576072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AURA by </a:t>
            </a:r>
            <a:r>
              <a:rPr lang="en-US" sz="1100" dirty="0" err="1">
                <a:solidFill>
                  <a:srgbClr val="FFFFFF"/>
                </a:solidFill>
              </a:rPr>
              <a:t>TryAgain</a:t>
            </a:r>
            <a:endParaRPr lang="en-US" sz="1100" dirty="0"/>
          </a:p>
        </p:txBody>
      </p:sp>
      <p:sp>
        <p:nvSpPr>
          <p:cNvPr id="9" name="Footer text"/>
          <p:cNvSpPr txBox="1"/>
          <p:nvPr/>
        </p:nvSpPr>
        <p:spPr>
          <a:xfrm>
            <a:off x="3840480" y="4892040"/>
            <a:ext cx="4206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BuildFest 2.0 | PS-18 | Guru Nanak Dev University</a:t>
            </a:r>
            <a:endParaRPr lang="en-US" sz="1100" dirty="0"/>
          </a:p>
        </p:txBody>
      </p:sp>
      <p:sp>
        <p:nvSpPr>
          <p:cNvPr id="10" name="Slide number"/>
          <p:cNvSpPr txBox="1"/>
          <p:nvPr/>
        </p:nvSpPr>
        <p:spPr>
          <a:xfrm>
            <a:off x="8046720" y="4892040"/>
            <a:ext cx="960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</a:rPr>
              <a:t>2 / 6</a:t>
            </a:r>
            <a:endParaRPr lang="en-US" sz="1100" dirty="0"/>
          </a:p>
        </p:txBody>
      </p:sp>
      <p:sp>
        <p:nvSpPr>
          <p:cNvPr id="11" name="Solution Overview card"/>
          <p:cNvSpPr/>
          <p:nvPr/>
        </p:nvSpPr>
        <p:spPr>
          <a:xfrm>
            <a:off x="365760" y="749808"/>
            <a:ext cx="4114800" cy="1874520"/>
          </a:xfrm>
          <a:prstGeom prst="roundRect">
            <a:avLst>
              <a:gd name="adj" fmla="val 2439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olution Overview header"/>
          <p:cNvSpPr/>
          <p:nvPr/>
        </p:nvSpPr>
        <p:spPr>
          <a:xfrm>
            <a:off x="365760" y="749808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olution Overview title"/>
          <p:cNvSpPr txBox="1"/>
          <p:nvPr/>
        </p:nvSpPr>
        <p:spPr>
          <a:xfrm>
            <a:off x="457200" y="749808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Solution Overview</a:t>
            </a:r>
            <a:endParaRPr lang="en-US" sz="1150" dirty="0"/>
          </a:p>
        </p:txBody>
      </p:sp>
      <p:sp>
        <p:nvSpPr>
          <p:cNvPr id="14" name="Solution Overview text"/>
          <p:cNvSpPr txBox="1"/>
          <p:nvPr/>
        </p:nvSpPr>
        <p:spPr>
          <a:xfrm>
            <a:off x="457200" y="1078992"/>
            <a:ext cx="39319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AURA-Flood: an AI-powered spatial intelligence platform that turns rainfall forecasts, historical weather, terrain, drainage and flood records into street-level waterlogging risk.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Ingests IMD and NWP data plus SRTM elevation, runs an AI flood-risk engine, and outputs Low / Moderate / High risk with location-based alerts.</a:t>
            </a:r>
            <a:endParaRPr lang="en-US" sz="1100" dirty="0"/>
          </a:p>
        </p:txBody>
      </p:sp>
      <p:sp>
        <p:nvSpPr>
          <p:cNvPr id="15" name="Key Features card"/>
          <p:cNvSpPr/>
          <p:nvPr/>
        </p:nvSpPr>
        <p:spPr>
          <a:xfrm>
            <a:off x="4663440" y="749808"/>
            <a:ext cx="4114800" cy="1874520"/>
          </a:xfrm>
          <a:prstGeom prst="roundRect">
            <a:avLst>
              <a:gd name="adj" fmla="val 2439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Key Features header"/>
          <p:cNvSpPr/>
          <p:nvPr/>
        </p:nvSpPr>
        <p:spPr>
          <a:xfrm>
            <a:off x="4663440" y="749808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Key Features title"/>
          <p:cNvSpPr txBox="1"/>
          <p:nvPr/>
        </p:nvSpPr>
        <p:spPr>
          <a:xfrm>
            <a:off x="4754880" y="749808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Key Features</a:t>
            </a:r>
            <a:endParaRPr lang="en-US" sz="1150" dirty="0"/>
          </a:p>
        </p:txBody>
      </p:sp>
      <p:sp>
        <p:nvSpPr>
          <p:cNvPr id="18" name="Key Features text"/>
          <p:cNvSpPr txBox="1"/>
          <p:nvPr/>
        </p:nvSpPr>
        <p:spPr>
          <a:xfrm>
            <a:off x="4754880" y="1078992"/>
            <a:ext cx="39319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Interactive civic map with dynamic risk polygons (Low, Moderate, High)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Rainfall trend panel: expected accumulation over the next 6 hours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Vulnerability pinpoints for historic waterlogging spots and critical chokepoints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Location-based alerts, with an uncertainty visualiser and official-forecast disclaimer</a:t>
            </a:r>
            <a:endParaRPr lang="en-US" sz="1100" dirty="0"/>
          </a:p>
        </p:txBody>
      </p:sp>
      <p:sp>
        <p:nvSpPr>
          <p:cNvPr id="19" name="How It Addresses the Problem card"/>
          <p:cNvSpPr/>
          <p:nvPr/>
        </p:nvSpPr>
        <p:spPr>
          <a:xfrm>
            <a:off x="365760" y="2743200"/>
            <a:ext cx="4114800" cy="2011680"/>
          </a:xfrm>
          <a:prstGeom prst="roundRect">
            <a:avLst>
              <a:gd name="adj" fmla="val 2273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How It Addresses the Problem header"/>
          <p:cNvSpPr/>
          <p:nvPr/>
        </p:nvSpPr>
        <p:spPr>
          <a:xfrm>
            <a:off x="365760" y="2743200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How It Addresses the Problem title"/>
          <p:cNvSpPr txBox="1"/>
          <p:nvPr/>
        </p:nvSpPr>
        <p:spPr>
          <a:xfrm>
            <a:off x="457200" y="2743200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How It Addresses the Problem</a:t>
            </a:r>
            <a:endParaRPr lang="en-US" sz="1150" dirty="0"/>
          </a:p>
        </p:txBody>
      </p:sp>
      <p:sp>
        <p:nvSpPr>
          <p:cNvPr id="22" name="How It Addresses the Problem text"/>
          <p:cNvSpPr txBox="1"/>
          <p:nvPr/>
        </p:nvSpPr>
        <p:spPr>
          <a:xfrm>
            <a:off x="457200" y="3072384"/>
            <a:ext cx="39319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Closes the localisation gap: 10 m street-level risk grids instead of vague city-wide warnings.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Covers every deliverable: dashboard, interactive map, 3-level risk classes, alert demo and model evaluation.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Built for residents, campus administrators and disaster-management teams in Indian cities.</a:t>
            </a:r>
            <a:endParaRPr lang="en-US" sz="1100" dirty="0"/>
          </a:p>
        </p:txBody>
      </p:sp>
      <p:sp>
        <p:nvSpPr>
          <p:cNvPr id="23" name="Unique / Innovative Aspects card"/>
          <p:cNvSpPr/>
          <p:nvPr/>
        </p:nvSpPr>
        <p:spPr>
          <a:xfrm>
            <a:off x="4663440" y="2743200"/>
            <a:ext cx="4114800" cy="2011680"/>
          </a:xfrm>
          <a:prstGeom prst="roundRect">
            <a:avLst>
              <a:gd name="adj" fmla="val 2273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Unique / Innovative Aspects header"/>
          <p:cNvSpPr/>
          <p:nvPr/>
        </p:nvSpPr>
        <p:spPr>
          <a:xfrm>
            <a:off x="4663440" y="2743200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Unique / Innovative Aspects title"/>
          <p:cNvSpPr txBox="1"/>
          <p:nvPr/>
        </p:nvSpPr>
        <p:spPr>
          <a:xfrm>
            <a:off x="4754880" y="2743200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Unique / Innovative Aspects</a:t>
            </a:r>
            <a:endParaRPr lang="en-US" sz="1150" dirty="0"/>
          </a:p>
        </p:txBody>
      </p:sp>
      <p:sp>
        <p:nvSpPr>
          <p:cNvPr id="26" name="Unique / Innovative Aspects text"/>
          <p:cNvSpPr txBox="1"/>
          <p:nvPr/>
        </p:nvSpPr>
        <p:spPr>
          <a:xfrm>
            <a:off x="4754880" y="3072384"/>
            <a:ext cx="39319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Elevation Risk Curve: SRTM basin volume vs. incoming rain to estimate time-to-threshold per grid.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Statistical uncertainty bound shown with every prediction, never hidden.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Experimental outputs clearly separated from official IMD / NDMA warnings.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Lightweight interface that works on low-bandwidth networks during storms.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 1"/>
          <p:cNvSpPr/>
          <p:nvPr/>
        </p:nvSpPr>
        <p:spPr>
          <a:xfrm>
            <a:off x="0" y="0"/>
            <a:ext cx="9144000" cy="552298"/>
          </a:xfrm>
          <a:prstGeom prst="rect">
            <a:avLst/>
          </a:prstGeom>
          <a:solidFill>
            <a:srgbClr val="14284B"/>
          </a:solidFill>
          <a:ln w="3175">
            <a:solidFill>
              <a:srgbClr val="142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Bar 2"/>
          <p:cNvSpPr/>
          <p:nvPr/>
        </p:nvSpPr>
        <p:spPr>
          <a:xfrm>
            <a:off x="0" y="552298"/>
            <a:ext cx="9144000" cy="27432"/>
          </a:xfrm>
          <a:prstGeom prst="rect">
            <a:avLst/>
          </a:prstGeom>
          <a:solidFill>
            <a:srgbClr val="22B5C9"/>
          </a:solidFill>
          <a:ln w="3175">
            <a:solidFill>
              <a:srgbClr val="22B5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Bar 3"/>
          <p:cNvSpPr/>
          <p:nvPr/>
        </p:nvSpPr>
        <p:spPr>
          <a:xfrm>
            <a:off x="0" y="4892040"/>
            <a:ext cx="3840480" cy="251460"/>
          </a:xfrm>
          <a:prstGeom prst="rect">
            <a:avLst/>
          </a:prstGeom>
          <a:solidFill>
            <a:srgbClr val="14284B"/>
          </a:solidFill>
          <a:ln w="3175">
            <a:solidFill>
              <a:srgbClr val="142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Bar 4"/>
          <p:cNvSpPr/>
          <p:nvPr/>
        </p:nvSpPr>
        <p:spPr>
          <a:xfrm>
            <a:off x="3840480" y="4892040"/>
            <a:ext cx="4206240" cy="251460"/>
          </a:xfrm>
          <a:prstGeom prst="rect">
            <a:avLst/>
          </a:prstGeom>
          <a:solidFill>
            <a:srgbClr val="2E6DA4"/>
          </a:solidFill>
          <a:ln w="3175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Bar 5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solidFill>
            <a:srgbClr val="B08010"/>
          </a:solidFill>
          <a:ln w="3175">
            <a:solidFill>
              <a:srgbClr val="B080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title"/>
          <p:cNvSpPr txBox="1"/>
          <p:nvPr/>
        </p:nvSpPr>
        <p:spPr>
          <a:xfrm>
            <a:off x="576072" y="0"/>
            <a:ext cx="6766560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DESIGN</a:t>
            </a:r>
            <a:endParaRPr lang="en-US" sz="2000" dirty="0"/>
          </a:p>
        </p:txBody>
      </p:sp>
      <p:sp>
        <p:nvSpPr>
          <p:cNvPr id="8" name="Footer team"/>
          <p:cNvSpPr txBox="1"/>
          <p:nvPr/>
        </p:nvSpPr>
        <p:spPr>
          <a:xfrm>
            <a:off x="576072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AURA by </a:t>
            </a:r>
            <a:r>
              <a:rPr lang="en-US" sz="1100" dirty="0" err="1">
                <a:solidFill>
                  <a:srgbClr val="FFFFFF"/>
                </a:solidFill>
              </a:rPr>
              <a:t>TryAgain</a:t>
            </a:r>
            <a:endParaRPr lang="en-US" sz="1100" dirty="0"/>
          </a:p>
        </p:txBody>
      </p:sp>
      <p:sp>
        <p:nvSpPr>
          <p:cNvPr id="9" name="Footer text"/>
          <p:cNvSpPr txBox="1"/>
          <p:nvPr/>
        </p:nvSpPr>
        <p:spPr>
          <a:xfrm>
            <a:off x="3840480" y="4892040"/>
            <a:ext cx="4206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BuildFest 2.0 | PS-18 | Guru Nanak Dev University</a:t>
            </a:r>
            <a:endParaRPr lang="en-US" sz="1100" dirty="0"/>
          </a:p>
        </p:txBody>
      </p:sp>
      <p:sp>
        <p:nvSpPr>
          <p:cNvPr id="10" name="Slide number"/>
          <p:cNvSpPr txBox="1"/>
          <p:nvPr/>
        </p:nvSpPr>
        <p:spPr>
          <a:xfrm>
            <a:off x="8046720" y="4892040"/>
            <a:ext cx="960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</a:rPr>
              <a:t>3 / 6</a:t>
            </a:r>
            <a:endParaRPr lang="en-US" sz="1100" dirty="0"/>
          </a:p>
        </p:txBody>
      </p:sp>
      <p:sp>
        <p:nvSpPr>
          <p:cNvPr id="11" name="Proposed Methodology card"/>
          <p:cNvSpPr/>
          <p:nvPr/>
        </p:nvSpPr>
        <p:spPr>
          <a:xfrm>
            <a:off x="365760" y="749808"/>
            <a:ext cx="4114800" cy="1874520"/>
          </a:xfrm>
          <a:prstGeom prst="roundRect">
            <a:avLst>
              <a:gd name="adj" fmla="val 2439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Proposed Methodology header"/>
          <p:cNvSpPr/>
          <p:nvPr/>
        </p:nvSpPr>
        <p:spPr>
          <a:xfrm>
            <a:off x="365760" y="749808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Proposed Methodology title"/>
          <p:cNvSpPr txBox="1"/>
          <p:nvPr/>
        </p:nvSpPr>
        <p:spPr>
          <a:xfrm>
            <a:off x="457200" y="749808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Proposed Methodology</a:t>
            </a:r>
            <a:endParaRPr lang="en-US" sz="1150" dirty="0"/>
          </a:p>
        </p:txBody>
      </p:sp>
      <p:sp>
        <p:nvSpPr>
          <p:cNvPr id="14" name="Proposed Methodology text"/>
          <p:cNvSpPr txBox="1"/>
          <p:nvPr/>
        </p:nvSpPr>
        <p:spPr>
          <a:xfrm>
            <a:off x="457200" y="1078992"/>
            <a:ext cx="393192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E6EEF7"/>
                </a:solidFill>
              </a:rPr>
              <a:t>Requirement analysis: gather IMD observations, NWP forecasts, SRTM DEM, drainage data and past flood records.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E6EEF7"/>
                </a:solidFill>
              </a:rPr>
              <a:t>Modelling: Elevation Risk Curve plus ML engine for risk estimation.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E6EEF7"/>
                </a:solidFill>
              </a:rPr>
              <a:t>Implementation: 3-tier build (AI microservice, orchestration API, civic interface).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E6EEF7"/>
                </a:solidFill>
              </a:rPr>
              <a:t>Testing and validation: replay historical events and compare with observations.</a:t>
            </a:r>
            <a:endParaRPr lang="en-US" sz="1050" dirty="0"/>
          </a:p>
        </p:txBody>
      </p:sp>
      <p:sp>
        <p:nvSpPr>
          <p:cNvPr id="15" name="Block diagram card"/>
          <p:cNvSpPr/>
          <p:nvPr/>
        </p:nvSpPr>
        <p:spPr>
          <a:xfrm>
            <a:off x="4663440" y="749808"/>
            <a:ext cx="4114800" cy="1874520"/>
          </a:xfrm>
          <a:prstGeom prst="roundRect">
            <a:avLst>
              <a:gd name="adj" fmla="val 2439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Block diagram header"/>
          <p:cNvSpPr/>
          <p:nvPr/>
        </p:nvSpPr>
        <p:spPr>
          <a:xfrm>
            <a:off x="4663440" y="749808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Block diagram title"/>
          <p:cNvSpPr txBox="1"/>
          <p:nvPr/>
        </p:nvSpPr>
        <p:spPr>
          <a:xfrm>
            <a:off x="4754880" y="749808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Block Diagram / System Architecture</a:t>
            </a:r>
            <a:endParaRPr lang="en-US" sz="1150" dirty="0"/>
          </a:p>
        </p:txBody>
      </p:sp>
      <p:pic>
        <p:nvPicPr>
          <p:cNvPr id="18" name="AURA architecture diagram" descr="AURA flood risk engine: weather data, infrastructure, topography and historical records feed an AI engine producing low, moderate and high ris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29" y="1097280"/>
            <a:ext cx="3680823" cy="1463040"/>
          </a:xfrm>
          <a:prstGeom prst="rect">
            <a:avLst/>
          </a:prstGeom>
        </p:spPr>
      </p:pic>
      <p:sp>
        <p:nvSpPr>
          <p:cNvPr id="19" name="Working Principle card"/>
          <p:cNvSpPr/>
          <p:nvPr/>
        </p:nvSpPr>
        <p:spPr>
          <a:xfrm>
            <a:off x="365760" y="2743200"/>
            <a:ext cx="4114800" cy="2011680"/>
          </a:xfrm>
          <a:prstGeom prst="roundRect">
            <a:avLst>
              <a:gd name="adj" fmla="val 2273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Working Principle header"/>
          <p:cNvSpPr/>
          <p:nvPr/>
        </p:nvSpPr>
        <p:spPr>
          <a:xfrm>
            <a:off x="365760" y="2743200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Working Principle title"/>
          <p:cNvSpPr txBox="1"/>
          <p:nvPr/>
        </p:nvSpPr>
        <p:spPr>
          <a:xfrm>
            <a:off x="457200" y="2743200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Working Principle</a:t>
            </a:r>
            <a:endParaRPr lang="en-US" sz="1150" dirty="0"/>
          </a:p>
        </p:txBody>
      </p:sp>
      <p:sp>
        <p:nvSpPr>
          <p:cNvPr id="22" name="Working Principle text"/>
          <p:cNvSpPr txBox="1"/>
          <p:nvPr/>
        </p:nvSpPr>
        <p:spPr>
          <a:xfrm>
            <a:off x="457200" y="3072384"/>
            <a:ext cx="39319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EF7"/>
                </a:solidFill>
              </a:rPr>
              <a:t>Ingest NWP rain volume, then compute SRTM DEM basin volume for each grid cell.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EF7"/>
                </a:solidFill>
              </a:rPr>
              <a:t>Compute time-to-threshold against the Elevation Risk Curve; classify Low / Moderate / High.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EEF7"/>
                </a:solidFill>
              </a:rPr>
              <a:t>ML engine (Python, Pandas, GeoPandas) refines estimates and generates a statistical uncertainty bound.</a:t>
            </a:r>
            <a:endParaRPr lang="en-US" sz="1050" dirty="0"/>
          </a:p>
        </p:txBody>
      </p:sp>
      <p:sp>
        <p:nvSpPr>
          <p:cNvPr id="23" name="Flowchart card"/>
          <p:cNvSpPr/>
          <p:nvPr/>
        </p:nvSpPr>
        <p:spPr>
          <a:xfrm>
            <a:off x="4663440" y="2743200"/>
            <a:ext cx="4114800" cy="2011680"/>
          </a:xfrm>
          <a:prstGeom prst="roundRect">
            <a:avLst>
              <a:gd name="adj" fmla="val 2273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Flowchart header"/>
          <p:cNvSpPr/>
          <p:nvPr/>
        </p:nvSpPr>
        <p:spPr>
          <a:xfrm>
            <a:off x="4663440" y="2743200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Flowchart title"/>
          <p:cNvSpPr txBox="1"/>
          <p:nvPr/>
        </p:nvSpPr>
        <p:spPr>
          <a:xfrm>
            <a:off x="4754880" y="2743200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Flowchart / Workflow</a:t>
            </a:r>
            <a:endParaRPr lang="en-US" sz="1150" dirty="0"/>
          </a:p>
        </p:txBody>
      </p:sp>
      <p:sp>
        <p:nvSpPr>
          <p:cNvPr id="26" name="Flow box Input"/>
          <p:cNvSpPr/>
          <p:nvPr/>
        </p:nvSpPr>
        <p:spPr>
          <a:xfrm>
            <a:off x="4754880" y="3246120"/>
            <a:ext cx="850392" cy="1234440"/>
          </a:xfrm>
          <a:prstGeom prst="roundRect">
            <a:avLst>
              <a:gd name="adj" fmla="val 6452"/>
            </a:avLst>
          </a:prstGeom>
          <a:solidFill>
            <a:srgbClr val="12304A"/>
          </a:solidFill>
          <a:ln w="12700">
            <a:solidFill>
              <a:srgbClr val="22B5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Flow text Input"/>
          <p:cNvSpPr txBox="1"/>
          <p:nvPr/>
        </p:nvSpPr>
        <p:spPr>
          <a:xfrm>
            <a:off x="4800600" y="3246120"/>
            <a:ext cx="758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B5C9"/>
                </a:solidFill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EF7"/>
                </a:solidFill>
              </a:rPr>
              <a:t>IMD, NWP, SRTM, flood records</a:t>
            </a:r>
            <a:endParaRPr lang="en-US" sz="1100" dirty="0"/>
          </a:p>
        </p:txBody>
      </p:sp>
      <p:sp>
        <p:nvSpPr>
          <p:cNvPr id="28" name="Flow arrow 1"/>
          <p:cNvSpPr/>
          <p:nvPr/>
        </p:nvSpPr>
        <p:spPr>
          <a:xfrm>
            <a:off x="5632704" y="3863340"/>
            <a:ext cx="182880" cy="0"/>
          </a:xfrm>
          <a:prstGeom prst="line">
            <a:avLst/>
          </a:prstGeom>
          <a:noFill/>
          <a:ln w="19050">
            <a:solidFill>
              <a:srgbClr val="22B5C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Flow box Process"/>
          <p:cNvSpPr/>
          <p:nvPr/>
        </p:nvSpPr>
        <p:spPr>
          <a:xfrm>
            <a:off x="5843016" y="3246120"/>
            <a:ext cx="850392" cy="1234440"/>
          </a:xfrm>
          <a:prstGeom prst="roundRect">
            <a:avLst>
              <a:gd name="adj" fmla="val 6452"/>
            </a:avLst>
          </a:prstGeom>
          <a:solidFill>
            <a:srgbClr val="12304A"/>
          </a:solidFill>
          <a:ln w="12700">
            <a:solidFill>
              <a:srgbClr val="22B5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Flow text Process"/>
          <p:cNvSpPr txBox="1"/>
          <p:nvPr/>
        </p:nvSpPr>
        <p:spPr>
          <a:xfrm>
            <a:off x="5888736" y="3246120"/>
            <a:ext cx="758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B5C9"/>
                </a:solidFill>
              </a:rPr>
              <a:t>Process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EF7"/>
                </a:solidFill>
              </a:rPr>
              <a:t>Normalise and grid-align data</a:t>
            </a:r>
            <a:endParaRPr lang="en-US" sz="1100" dirty="0"/>
          </a:p>
        </p:txBody>
      </p:sp>
      <p:sp>
        <p:nvSpPr>
          <p:cNvPr id="31" name="Flow arrow 2"/>
          <p:cNvSpPr/>
          <p:nvPr/>
        </p:nvSpPr>
        <p:spPr>
          <a:xfrm>
            <a:off x="6720840" y="3863340"/>
            <a:ext cx="182880" cy="0"/>
          </a:xfrm>
          <a:prstGeom prst="line">
            <a:avLst/>
          </a:prstGeom>
          <a:noFill/>
          <a:ln w="19050">
            <a:solidFill>
              <a:srgbClr val="22B5C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Flow box Model"/>
          <p:cNvSpPr/>
          <p:nvPr/>
        </p:nvSpPr>
        <p:spPr>
          <a:xfrm>
            <a:off x="6931152" y="3246120"/>
            <a:ext cx="850392" cy="1234440"/>
          </a:xfrm>
          <a:prstGeom prst="roundRect">
            <a:avLst>
              <a:gd name="adj" fmla="val 6452"/>
            </a:avLst>
          </a:prstGeom>
          <a:solidFill>
            <a:srgbClr val="12304A"/>
          </a:solidFill>
          <a:ln w="12700">
            <a:solidFill>
              <a:srgbClr val="22B5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Flow text Model"/>
          <p:cNvSpPr txBox="1"/>
          <p:nvPr/>
        </p:nvSpPr>
        <p:spPr>
          <a:xfrm>
            <a:off x="6976872" y="3246120"/>
            <a:ext cx="758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B5C9"/>
                </a:solidFill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EF7"/>
                </a:solidFill>
              </a:rPr>
              <a:t>Elevation Risk Curve + ML</a:t>
            </a:r>
            <a:endParaRPr lang="en-US" sz="1100" dirty="0"/>
          </a:p>
        </p:txBody>
      </p:sp>
      <p:sp>
        <p:nvSpPr>
          <p:cNvPr id="34" name="Flow arrow 3"/>
          <p:cNvSpPr/>
          <p:nvPr/>
        </p:nvSpPr>
        <p:spPr>
          <a:xfrm>
            <a:off x="7808976" y="3863340"/>
            <a:ext cx="182880" cy="0"/>
          </a:xfrm>
          <a:prstGeom prst="line">
            <a:avLst/>
          </a:prstGeom>
          <a:noFill/>
          <a:ln w="19050">
            <a:solidFill>
              <a:srgbClr val="22B5C9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Flow box Output"/>
          <p:cNvSpPr/>
          <p:nvPr/>
        </p:nvSpPr>
        <p:spPr>
          <a:xfrm>
            <a:off x="8019288" y="3246120"/>
            <a:ext cx="850392" cy="1234440"/>
          </a:xfrm>
          <a:prstGeom prst="roundRect">
            <a:avLst>
              <a:gd name="adj" fmla="val 6452"/>
            </a:avLst>
          </a:prstGeom>
          <a:solidFill>
            <a:srgbClr val="12304A"/>
          </a:solidFill>
          <a:ln w="12700">
            <a:solidFill>
              <a:srgbClr val="22B5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Flow text Output"/>
          <p:cNvSpPr txBox="1"/>
          <p:nvPr/>
        </p:nvSpPr>
        <p:spPr>
          <a:xfrm>
            <a:off x="8065008" y="3246120"/>
            <a:ext cx="758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B5C9"/>
                </a:solidFill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EF7"/>
                </a:solidFill>
              </a:rPr>
              <a:t>Risk map, trends, alerts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 1"/>
          <p:cNvSpPr/>
          <p:nvPr/>
        </p:nvSpPr>
        <p:spPr>
          <a:xfrm>
            <a:off x="0" y="0"/>
            <a:ext cx="9144000" cy="552298"/>
          </a:xfrm>
          <a:prstGeom prst="rect">
            <a:avLst/>
          </a:prstGeom>
          <a:solidFill>
            <a:srgbClr val="14284B"/>
          </a:solidFill>
          <a:ln w="3175">
            <a:solidFill>
              <a:srgbClr val="142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Bar 2"/>
          <p:cNvSpPr/>
          <p:nvPr/>
        </p:nvSpPr>
        <p:spPr>
          <a:xfrm>
            <a:off x="0" y="552298"/>
            <a:ext cx="9144000" cy="27432"/>
          </a:xfrm>
          <a:prstGeom prst="rect">
            <a:avLst/>
          </a:prstGeom>
          <a:solidFill>
            <a:srgbClr val="22B5C9"/>
          </a:solidFill>
          <a:ln w="3175">
            <a:solidFill>
              <a:srgbClr val="22B5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Bar 3"/>
          <p:cNvSpPr/>
          <p:nvPr/>
        </p:nvSpPr>
        <p:spPr>
          <a:xfrm>
            <a:off x="0" y="4892040"/>
            <a:ext cx="3840480" cy="251460"/>
          </a:xfrm>
          <a:prstGeom prst="rect">
            <a:avLst/>
          </a:prstGeom>
          <a:solidFill>
            <a:srgbClr val="14284B"/>
          </a:solidFill>
          <a:ln w="3175">
            <a:solidFill>
              <a:srgbClr val="142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Bar 4"/>
          <p:cNvSpPr/>
          <p:nvPr/>
        </p:nvSpPr>
        <p:spPr>
          <a:xfrm>
            <a:off x="3840480" y="4892040"/>
            <a:ext cx="4206240" cy="251460"/>
          </a:xfrm>
          <a:prstGeom prst="rect">
            <a:avLst/>
          </a:prstGeom>
          <a:solidFill>
            <a:srgbClr val="2E6DA4"/>
          </a:solidFill>
          <a:ln w="3175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Bar 5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solidFill>
            <a:srgbClr val="B08010"/>
          </a:solidFill>
          <a:ln w="3175">
            <a:solidFill>
              <a:srgbClr val="B080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title"/>
          <p:cNvSpPr txBox="1"/>
          <p:nvPr/>
        </p:nvSpPr>
        <p:spPr>
          <a:xfrm>
            <a:off x="576072" y="0"/>
            <a:ext cx="6766560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IMPLEMENTATION AND TESTING</a:t>
            </a:r>
            <a:endParaRPr lang="en-US" sz="2000" dirty="0"/>
          </a:p>
        </p:txBody>
      </p:sp>
      <p:sp>
        <p:nvSpPr>
          <p:cNvPr id="8" name="Footer team"/>
          <p:cNvSpPr txBox="1"/>
          <p:nvPr/>
        </p:nvSpPr>
        <p:spPr>
          <a:xfrm>
            <a:off x="576072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AURA by </a:t>
            </a:r>
            <a:r>
              <a:rPr lang="en-US" sz="1100" dirty="0" err="1">
                <a:solidFill>
                  <a:srgbClr val="FFFFFF"/>
                </a:solidFill>
              </a:rPr>
              <a:t>TryAgain</a:t>
            </a:r>
            <a:endParaRPr lang="en-US" sz="1100" dirty="0"/>
          </a:p>
        </p:txBody>
      </p:sp>
      <p:sp>
        <p:nvSpPr>
          <p:cNvPr id="9" name="Footer text"/>
          <p:cNvSpPr txBox="1"/>
          <p:nvPr/>
        </p:nvSpPr>
        <p:spPr>
          <a:xfrm>
            <a:off x="3840480" y="4892040"/>
            <a:ext cx="4206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BuildFest 2.0 | PS-18 | Guru Nanak Dev University</a:t>
            </a:r>
            <a:endParaRPr lang="en-US" sz="1100" dirty="0"/>
          </a:p>
        </p:txBody>
      </p:sp>
      <p:sp>
        <p:nvSpPr>
          <p:cNvPr id="10" name="Slide number"/>
          <p:cNvSpPr txBox="1"/>
          <p:nvPr/>
        </p:nvSpPr>
        <p:spPr>
          <a:xfrm>
            <a:off x="8046720" y="4892040"/>
            <a:ext cx="960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</a:rPr>
              <a:t>4 / 6</a:t>
            </a:r>
            <a:endParaRPr lang="en-US" sz="1100" dirty="0"/>
          </a:p>
        </p:txBody>
      </p:sp>
      <p:sp>
        <p:nvSpPr>
          <p:cNvPr id="11" name="ARMSS badge"/>
          <p:cNvSpPr/>
          <p:nvPr/>
        </p:nvSpPr>
        <p:spPr>
          <a:xfrm>
            <a:off x="7543800" y="155448"/>
            <a:ext cx="1097280" cy="246888"/>
          </a:xfrm>
          <a:prstGeom prst="roundRect">
            <a:avLst>
              <a:gd name="adj" fmla="val 48148"/>
            </a:avLst>
          </a:prstGeom>
          <a:solidFill>
            <a:srgbClr val="B08010"/>
          </a:solidFill>
          <a:ln w="6350">
            <a:solidFill>
              <a:srgbClr val="B080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ARMSS badge text"/>
          <p:cNvSpPr txBox="1"/>
          <p:nvPr/>
        </p:nvSpPr>
        <p:spPr>
          <a:xfrm>
            <a:off x="7543800" y="15544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ARMSS</a:t>
            </a:r>
            <a:endParaRPr lang="en-US" sz="1100" dirty="0"/>
          </a:p>
        </p:txBody>
      </p:sp>
      <p:sp>
        <p:nvSpPr>
          <p:cNvPr id="13" name="Technologies / Components Used card"/>
          <p:cNvSpPr/>
          <p:nvPr/>
        </p:nvSpPr>
        <p:spPr>
          <a:xfrm>
            <a:off x="365760" y="749808"/>
            <a:ext cx="4114800" cy="1463040"/>
          </a:xfrm>
          <a:prstGeom prst="roundRect">
            <a:avLst>
              <a:gd name="adj" fmla="val 3125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chnologies / Components Used header"/>
          <p:cNvSpPr/>
          <p:nvPr/>
        </p:nvSpPr>
        <p:spPr>
          <a:xfrm>
            <a:off x="365760" y="749808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chnologies / Components Used title"/>
          <p:cNvSpPr txBox="1"/>
          <p:nvPr/>
        </p:nvSpPr>
        <p:spPr>
          <a:xfrm>
            <a:off x="457200" y="749808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Technologies / Components Used</a:t>
            </a:r>
            <a:endParaRPr lang="en-US" sz="1150" dirty="0"/>
          </a:p>
        </p:txBody>
      </p:sp>
      <p:sp>
        <p:nvSpPr>
          <p:cNvPr id="16" name="Technologies / Components Used text"/>
          <p:cNvSpPr txBox="1"/>
          <p:nvPr/>
        </p:nvSpPr>
        <p:spPr>
          <a:xfrm>
            <a:off x="457200" y="1078992"/>
            <a:ext cx="3931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Python, Pandas, GeoPandas (AI microservice); Spring Boot (orchestration API)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React + Bootstrap civic interface; SRTM DEM, IMD data, NWP forecasts</a:t>
            </a:r>
            <a:endParaRPr lang="en-US" sz="1100" dirty="0"/>
          </a:p>
        </p:txBody>
      </p:sp>
      <p:sp>
        <p:nvSpPr>
          <p:cNvPr id="17" name="Testing Methodology card"/>
          <p:cNvSpPr/>
          <p:nvPr/>
        </p:nvSpPr>
        <p:spPr>
          <a:xfrm>
            <a:off x="4663440" y="749808"/>
            <a:ext cx="4114800" cy="1463040"/>
          </a:xfrm>
          <a:prstGeom prst="roundRect">
            <a:avLst>
              <a:gd name="adj" fmla="val 3125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sting Methodology header"/>
          <p:cNvSpPr/>
          <p:nvPr/>
        </p:nvSpPr>
        <p:spPr>
          <a:xfrm>
            <a:off x="4663440" y="749808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sting Methodology title"/>
          <p:cNvSpPr txBox="1"/>
          <p:nvPr/>
        </p:nvSpPr>
        <p:spPr>
          <a:xfrm>
            <a:off x="4754880" y="749808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Testing Methodology</a:t>
            </a:r>
            <a:endParaRPr lang="en-US" sz="1150" dirty="0"/>
          </a:p>
        </p:txBody>
      </p:sp>
      <p:sp>
        <p:nvSpPr>
          <p:cNvPr id="20" name="Testing Methodology text"/>
          <p:cNvSpPr txBox="1"/>
          <p:nvPr/>
        </p:nvSpPr>
        <p:spPr>
          <a:xfrm>
            <a:off x="4754880" y="1078992"/>
            <a:ext cx="3931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Replay simulated and historical flood events to demonstrate location-based alerts.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Validate predictions against observed rainfall and flood records; compare with current city-level forecasts as baseline.</a:t>
            </a:r>
            <a:endParaRPr lang="en-US" sz="1100" dirty="0"/>
          </a:p>
        </p:txBody>
      </p:sp>
      <p:sp>
        <p:nvSpPr>
          <p:cNvPr id="21" name="Implementation / Prototype Status card"/>
          <p:cNvSpPr/>
          <p:nvPr/>
        </p:nvSpPr>
        <p:spPr>
          <a:xfrm>
            <a:off x="365760" y="2331720"/>
            <a:ext cx="4114800" cy="2423160"/>
          </a:xfrm>
          <a:prstGeom prst="roundRect">
            <a:avLst>
              <a:gd name="adj" fmla="val 1887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Implementation / Prototype Status header"/>
          <p:cNvSpPr/>
          <p:nvPr/>
        </p:nvSpPr>
        <p:spPr>
          <a:xfrm>
            <a:off x="365760" y="2331720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Implementation / Prototype Status title"/>
          <p:cNvSpPr txBox="1"/>
          <p:nvPr/>
        </p:nvSpPr>
        <p:spPr>
          <a:xfrm>
            <a:off x="457200" y="2331720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Implementation / Prototype Status</a:t>
            </a:r>
            <a:endParaRPr lang="en-US" sz="1150" dirty="0"/>
          </a:p>
        </p:txBody>
      </p:sp>
      <p:sp>
        <p:nvSpPr>
          <p:cNvPr id="24" name="Implementation / Prototype Status text"/>
          <p:cNvSpPr txBox="1"/>
          <p:nvPr/>
        </p:nvSpPr>
        <p:spPr>
          <a:xfrm>
            <a:off x="457200" y="2660904"/>
            <a:ext cx="393192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Phase 1 (Hackathon T0-T24): data ingestion pipelines, Python microservice trained on limited IMD data, Spring Boot scaffolding.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Phase 2 (T24-T48): React UI, live mapping integration, location-based alert simulation.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Phase 3 (post-deployment): evaluate against observations, document limitations, tune confidence bounds for Indian urban environments.</a:t>
            </a:r>
            <a:endParaRPr lang="en-US" sz="1100" dirty="0"/>
          </a:p>
        </p:txBody>
      </p:sp>
      <p:sp>
        <p:nvSpPr>
          <p:cNvPr id="25" name="Metrics card"/>
          <p:cNvSpPr/>
          <p:nvPr/>
        </p:nvSpPr>
        <p:spPr>
          <a:xfrm>
            <a:off x="4663440" y="2331720"/>
            <a:ext cx="4114800" cy="2423160"/>
          </a:xfrm>
          <a:prstGeom prst="roundRect">
            <a:avLst>
              <a:gd name="adj" fmla="val 1887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Metrics header"/>
          <p:cNvSpPr/>
          <p:nvPr/>
        </p:nvSpPr>
        <p:spPr>
          <a:xfrm>
            <a:off x="4663440" y="2331720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Metrics title"/>
          <p:cNvSpPr txBox="1"/>
          <p:nvPr/>
        </p:nvSpPr>
        <p:spPr>
          <a:xfrm>
            <a:off x="4754880" y="2331720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Key Performance Metrics / Results</a:t>
            </a:r>
            <a:endParaRPr lang="en-US" sz="1150" dirty="0"/>
          </a:p>
        </p:txBody>
      </p:sp>
      <p:graphicFrame>
        <p:nvGraphicFramePr>
          <p:cNvPr id="28" name="Metric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743200"/>
          <a:ext cx="3840480" cy="175564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B5C9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B5C9"/>
                          </a:solidFill>
                        </a:rPr>
                        <a:t>Target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B5C9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EF7"/>
                          </a:solidFill>
                        </a:rPr>
                        <a:t>Spatial resolution</a:t>
                      </a:r>
                      <a:endParaRPr lang="en-US" sz="9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EF7"/>
                          </a:solidFill>
                        </a:rPr>
                        <a:t>10 m street-level grid</a:t>
                      </a:r>
                      <a:endParaRPr lang="en-US" sz="9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EF7"/>
                          </a:solidFill>
                        </a:rPr>
                        <a:t>Pending</a:t>
                      </a:r>
                      <a:endParaRPr lang="en-US" sz="9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EF7"/>
                          </a:solidFill>
                        </a:rPr>
                        <a:t>Risk classification</a:t>
                      </a:r>
                      <a:endParaRPr lang="en-US" sz="9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EF7"/>
                          </a:solidFill>
                        </a:rPr>
                        <a:t>Low / Moderate / High</a:t>
                      </a:r>
                      <a:endParaRPr lang="en-US" sz="9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EF7"/>
                          </a:solidFill>
                        </a:rPr>
                        <a:t>Pending</a:t>
                      </a:r>
                      <a:endParaRPr lang="en-US" sz="9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EF7"/>
                          </a:solidFill>
                        </a:rPr>
                        <a:t>Rainfall trend horizon</a:t>
                      </a:r>
                      <a:endParaRPr lang="en-US" sz="9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EF7"/>
                          </a:solidFill>
                        </a:rPr>
                        <a:t>Next 6 hours</a:t>
                      </a:r>
                      <a:endParaRPr lang="en-US" sz="9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EF7"/>
                          </a:solidFill>
                        </a:rPr>
                        <a:t>Pending</a:t>
                      </a:r>
                      <a:endParaRPr lang="en-US" sz="9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EF7"/>
                          </a:solidFill>
                        </a:rPr>
                        <a:t>Model vs observations</a:t>
                      </a:r>
                      <a:endParaRPr lang="en-US" sz="9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EF7"/>
                          </a:solidFill>
                        </a:rPr>
                        <a:t>Evaluated, limits documented</a:t>
                      </a:r>
                      <a:endParaRPr lang="en-US" sz="9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EF7"/>
                          </a:solidFill>
                        </a:rPr>
                        <a:t>Pending</a:t>
                      </a:r>
                      <a:endParaRPr lang="en-US" sz="9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EF7"/>
                          </a:solidFill>
                        </a:rPr>
                        <a:t>Uncertainty display</a:t>
                      </a:r>
                      <a:endParaRPr lang="en-US" sz="9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EF7"/>
                          </a:solidFill>
                        </a:rPr>
                        <a:t>Shown on every prediction</a:t>
                      </a:r>
                      <a:endParaRPr lang="en-US" sz="9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EF7"/>
                          </a:solidFill>
                        </a:rPr>
                        <a:t>Pending</a:t>
                      </a:r>
                      <a:endParaRPr lang="en-US" sz="95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6E8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 1"/>
          <p:cNvSpPr/>
          <p:nvPr/>
        </p:nvSpPr>
        <p:spPr>
          <a:xfrm>
            <a:off x="0" y="0"/>
            <a:ext cx="9144000" cy="552298"/>
          </a:xfrm>
          <a:prstGeom prst="rect">
            <a:avLst/>
          </a:prstGeom>
          <a:solidFill>
            <a:srgbClr val="14284B"/>
          </a:solidFill>
          <a:ln w="3175">
            <a:solidFill>
              <a:srgbClr val="142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Bar 2"/>
          <p:cNvSpPr/>
          <p:nvPr/>
        </p:nvSpPr>
        <p:spPr>
          <a:xfrm>
            <a:off x="0" y="552298"/>
            <a:ext cx="9144000" cy="27432"/>
          </a:xfrm>
          <a:prstGeom prst="rect">
            <a:avLst/>
          </a:prstGeom>
          <a:solidFill>
            <a:srgbClr val="22B5C9"/>
          </a:solidFill>
          <a:ln w="3175">
            <a:solidFill>
              <a:srgbClr val="22B5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Bar 3"/>
          <p:cNvSpPr/>
          <p:nvPr/>
        </p:nvSpPr>
        <p:spPr>
          <a:xfrm>
            <a:off x="0" y="4892040"/>
            <a:ext cx="3840480" cy="251460"/>
          </a:xfrm>
          <a:prstGeom prst="rect">
            <a:avLst/>
          </a:prstGeom>
          <a:solidFill>
            <a:srgbClr val="14284B"/>
          </a:solidFill>
          <a:ln w="3175">
            <a:solidFill>
              <a:srgbClr val="142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Bar 4"/>
          <p:cNvSpPr/>
          <p:nvPr/>
        </p:nvSpPr>
        <p:spPr>
          <a:xfrm>
            <a:off x="3840480" y="4892040"/>
            <a:ext cx="4206240" cy="251460"/>
          </a:xfrm>
          <a:prstGeom prst="rect">
            <a:avLst/>
          </a:prstGeom>
          <a:solidFill>
            <a:srgbClr val="2E6DA4"/>
          </a:solidFill>
          <a:ln w="3175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Bar 5"/>
          <p:cNvSpPr/>
          <p:nvPr/>
        </p:nvSpPr>
        <p:spPr>
          <a:xfrm>
            <a:off x="8046720" y="4892040"/>
            <a:ext cx="1097280" cy="251460"/>
          </a:xfrm>
          <a:prstGeom prst="rect">
            <a:avLst/>
          </a:prstGeom>
          <a:solidFill>
            <a:srgbClr val="B08010"/>
          </a:solidFill>
          <a:ln w="3175">
            <a:solidFill>
              <a:srgbClr val="B080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title"/>
          <p:cNvSpPr txBox="1"/>
          <p:nvPr/>
        </p:nvSpPr>
        <p:spPr>
          <a:xfrm>
            <a:off x="576072" y="0"/>
            <a:ext cx="6766560" cy="552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BENEFITS &amp; IMPACTS</a:t>
            </a:r>
            <a:endParaRPr lang="en-US" sz="2000" dirty="0"/>
          </a:p>
        </p:txBody>
      </p:sp>
      <p:sp>
        <p:nvSpPr>
          <p:cNvPr id="8" name="Footer team"/>
          <p:cNvSpPr txBox="1"/>
          <p:nvPr/>
        </p:nvSpPr>
        <p:spPr>
          <a:xfrm>
            <a:off x="576072" y="4892040"/>
            <a:ext cx="2743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AURA by </a:t>
            </a:r>
            <a:r>
              <a:rPr lang="en-US" sz="1100" dirty="0" err="1">
                <a:solidFill>
                  <a:srgbClr val="FFFFFF"/>
                </a:solidFill>
              </a:rPr>
              <a:t>TryAgain</a:t>
            </a:r>
            <a:endParaRPr lang="en-US" sz="1100" dirty="0"/>
          </a:p>
        </p:txBody>
      </p:sp>
      <p:sp>
        <p:nvSpPr>
          <p:cNvPr id="9" name="Footer text"/>
          <p:cNvSpPr txBox="1"/>
          <p:nvPr/>
        </p:nvSpPr>
        <p:spPr>
          <a:xfrm>
            <a:off x="3840480" y="4892040"/>
            <a:ext cx="4206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BuildFest 2.0 | PS-18 | Guru Nanak Dev University</a:t>
            </a:r>
            <a:endParaRPr lang="en-US" sz="1100" dirty="0"/>
          </a:p>
        </p:txBody>
      </p:sp>
      <p:sp>
        <p:nvSpPr>
          <p:cNvPr id="10" name="Slide number"/>
          <p:cNvSpPr txBox="1"/>
          <p:nvPr/>
        </p:nvSpPr>
        <p:spPr>
          <a:xfrm>
            <a:off x="8046720" y="4892040"/>
            <a:ext cx="9601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</a:rPr>
              <a:t>5 / 6</a:t>
            </a:r>
            <a:endParaRPr lang="en-US" sz="1100" dirty="0"/>
          </a:p>
        </p:txBody>
      </p:sp>
      <p:sp>
        <p:nvSpPr>
          <p:cNvPr id="11" name="Target Users / Beneficiaries card"/>
          <p:cNvSpPr/>
          <p:nvPr/>
        </p:nvSpPr>
        <p:spPr>
          <a:xfrm>
            <a:off x="365760" y="713232"/>
            <a:ext cx="4114800" cy="1024128"/>
          </a:xfrm>
          <a:prstGeom prst="roundRect">
            <a:avLst>
              <a:gd name="adj" fmla="val 4464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arget Users / Beneficiaries header"/>
          <p:cNvSpPr/>
          <p:nvPr/>
        </p:nvSpPr>
        <p:spPr>
          <a:xfrm>
            <a:off x="365760" y="713232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arget Users / Beneficiaries title"/>
          <p:cNvSpPr txBox="1"/>
          <p:nvPr/>
        </p:nvSpPr>
        <p:spPr>
          <a:xfrm>
            <a:off x="457200" y="713232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Target Users / Beneficiaries</a:t>
            </a:r>
            <a:endParaRPr lang="en-US" sz="1150" dirty="0"/>
          </a:p>
        </p:txBody>
      </p:sp>
      <p:sp>
        <p:nvSpPr>
          <p:cNvPr id="14" name="Target Users / Beneficiaries text"/>
          <p:cNvSpPr txBox="1"/>
          <p:nvPr/>
        </p:nvSpPr>
        <p:spPr>
          <a:xfrm>
            <a:off x="457200" y="104241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Residents and Municipal Corporation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Campus administrators and disaster-management teams</a:t>
            </a:r>
            <a:endParaRPr lang="en-US" sz="1100" dirty="0"/>
          </a:p>
        </p:txBody>
      </p:sp>
      <p:sp>
        <p:nvSpPr>
          <p:cNvPr id="15" name="Real-World Applications card"/>
          <p:cNvSpPr/>
          <p:nvPr/>
        </p:nvSpPr>
        <p:spPr>
          <a:xfrm>
            <a:off x="4663440" y="713232"/>
            <a:ext cx="4114800" cy="1024128"/>
          </a:xfrm>
          <a:prstGeom prst="roundRect">
            <a:avLst>
              <a:gd name="adj" fmla="val 4464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al-World Applications header"/>
          <p:cNvSpPr/>
          <p:nvPr/>
        </p:nvSpPr>
        <p:spPr>
          <a:xfrm>
            <a:off x="4663440" y="713232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al-World Applications title"/>
          <p:cNvSpPr txBox="1"/>
          <p:nvPr/>
        </p:nvSpPr>
        <p:spPr>
          <a:xfrm>
            <a:off x="4754880" y="713232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Real-World Applications</a:t>
            </a:r>
            <a:endParaRPr lang="en-US" sz="1150" dirty="0"/>
          </a:p>
        </p:txBody>
      </p:sp>
      <p:sp>
        <p:nvSpPr>
          <p:cNvPr id="18" name="Real-World Applications text"/>
          <p:cNvSpPr txBox="1"/>
          <p:nvPr/>
        </p:nvSpPr>
        <p:spPr>
          <a:xfrm>
            <a:off x="4754880" y="104241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Urban flood early warning for Indian cities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Safer transport, infrastructure and campus operations planning</a:t>
            </a:r>
            <a:endParaRPr lang="en-US" sz="1100" dirty="0"/>
          </a:p>
        </p:txBody>
      </p:sp>
      <p:sp>
        <p:nvSpPr>
          <p:cNvPr id="19" name="Scalability / Future Potential card"/>
          <p:cNvSpPr/>
          <p:nvPr/>
        </p:nvSpPr>
        <p:spPr>
          <a:xfrm>
            <a:off x="365760" y="1828800"/>
            <a:ext cx="4114800" cy="1024128"/>
          </a:xfrm>
          <a:prstGeom prst="roundRect">
            <a:avLst>
              <a:gd name="adj" fmla="val 4464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calability / Future Potential header"/>
          <p:cNvSpPr/>
          <p:nvPr/>
        </p:nvSpPr>
        <p:spPr>
          <a:xfrm>
            <a:off x="365760" y="1828800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calability / Future Potential title"/>
          <p:cNvSpPr txBox="1"/>
          <p:nvPr/>
        </p:nvSpPr>
        <p:spPr>
          <a:xfrm>
            <a:off x="457200" y="1828800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Scalability / Future Potential</a:t>
            </a:r>
            <a:endParaRPr lang="en-US" sz="1150" dirty="0"/>
          </a:p>
        </p:txBody>
      </p:sp>
      <p:sp>
        <p:nvSpPr>
          <p:cNvPr id="22" name="Scalability / Future Potential text"/>
          <p:cNvSpPr txBox="1"/>
          <p:nvPr/>
        </p:nvSpPr>
        <p:spPr>
          <a:xfrm>
            <a:off x="457200" y="215798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Global expansion beyond Indian cities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Mobile app and new features</a:t>
            </a:r>
            <a:endParaRPr lang="en-US" sz="1100" dirty="0"/>
          </a:p>
        </p:txBody>
      </p:sp>
      <p:sp>
        <p:nvSpPr>
          <p:cNvPr id="23" name="Expected Impact card"/>
          <p:cNvSpPr/>
          <p:nvPr/>
        </p:nvSpPr>
        <p:spPr>
          <a:xfrm>
            <a:off x="4663440" y="1828800"/>
            <a:ext cx="4114800" cy="1024128"/>
          </a:xfrm>
          <a:prstGeom prst="roundRect">
            <a:avLst>
              <a:gd name="adj" fmla="val 4464"/>
            </a:avLst>
          </a:prstGeom>
          <a:solidFill>
            <a:srgbClr val="0E2236"/>
          </a:solidFill>
          <a:ln w="12700">
            <a:solidFill>
              <a:srgbClr val="1C6E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Expected Impact header"/>
          <p:cNvSpPr/>
          <p:nvPr/>
        </p:nvSpPr>
        <p:spPr>
          <a:xfrm>
            <a:off x="4663440" y="1828800"/>
            <a:ext cx="4114800" cy="265176"/>
          </a:xfrm>
          <a:prstGeom prst="rect">
            <a:avLst/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Expected Impact title"/>
          <p:cNvSpPr txBox="1"/>
          <p:nvPr/>
        </p:nvSpPr>
        <p:spPr>
          <a:xfrm>
            <a:off x="4754880" y="1828800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Expected Impact</a:t>
            </a:r>
            <a:endParaRPr lang="en-US" sz="1150" dirty="0"/>
          </a:p>
        </p:txBody>
      </p:sp>
      <p:sp>
        <p:nvSpPr>
          <p:cNvPr id="26" name="Expected Impact text"/>
          <p:cNvSpPr txBox="1"/>
          <p:nvPr/>
        </p:nvSpPr>
        <p:spPr>
          <a:xfrm>
            <a:off x="4754880" y="215798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Less disruption to transport and damage to infrastructure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6EEF7"/>
                </a:solidFill>
              </a:rPr>
              <a:t>Better public safety through informed, hyper-local decisions</a:t>
            </a:r>
            <a:endParaRPr lang="en-US" sz="1100" dirty="0"/>
          </a:p>
        </p:txBody>
      </p:sp>
      <p:sp>
        <p:nvSpPr>
          <p:cNvPr id="27" name="Business model card"/>
          <p:cNvSpPr/>
          <p:nvPr/>
        </p:nvSpPr>
        <p:spPr>
          <a:xfrm>
            <a:off x="365760" y="2944368"/>
            <a:ext cx="8412480" cy="1828800"/>
          </a:xfrm>
          <a:prstGeom prst="roundRect">
            <a:avLst>
              <a:gd name="adj" fmla="val 2500"/>
            </a:avLst>
          </a:prstGeom>
          <a:solidFill>
            <a:srgbClr val="0E2236"/>
          </a:solidFill>
          <a:ln w="12700">
            <a:solidFill>
              <a:srgbClr val="B080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Business model header"/>
          <p:cNvSpPr/>
          <p:nvPr/>
        </p:nvSpPr>
        <p:spPr>
          <a:xfrm>
            <a:off x="365760" y="2944368"/>
            <a:ext cx="8412480" cy="265176"/>
          </a:xfrm>
          <a:prstGeom prst="rect">
            <a:avLst/>
          </a:prstGeom>
          <a:solidFill>
            <a:srgbClr val="B08010"/>
          </a:solidFill>
          <a:ln w="6350">
            <a:solidFill>
              <a:srgbClr val="B080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Business model title"/>
          <p:cNvSpPr txBox="1"/>
          <p:nvPr/>
        </p:nvSpPr>
        <p:spPr>
          <a:xfrm>
            <a:off x="457200" y="2944368"/>
            <a:ext cx="7315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Business Model Blueprint</a:t>
            </a:r>
            <a:endParaRPr lang="en-US" sz="1150" dirty="0"/>
          </a:p>
        </p:txBody>
      </p:sp>
      <p:sp>
        <p:nvSpPr>
          <p:cNvPr id="30" name="Value Proposition label"/>
          <p:cNvSpPr/>
          <p:nvPr/>
        </p:nvSpPr>
        <p:spPr>
          <a:xfrm>
            <a:off x="502920" y="3310128"/>
            <a:ext cx="2560320" cy="274320"/>
          </a:xfrm>
          <a:prstGeom prst="roundRect">
            <a:avLst>
              <a:gd name="adj" fmla="val 16667"/>
            </a:avLst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Value Proposition label text"/>
          <p:cNvSpPr txBox="1"/>
          <p:nvPr/>
        </p:nvSpPr>
        <p:spPr>
          <a:xfrm>
            <a:off x="50292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Value Proposition</a:t>
            </a:r>
            <a:endParaRPr lang="en-US" sz="1100" dirty="0"/>
          </a:p>
        </p:txBody>
      </p:sp>
      <p:sp>
        <p:nvSpPr>
          <p:cNvPr id="32" name="Value Proposition items"/>
          <p:cNvSpPr txBox="1"/>
          <p:nvPr/>
        </p:nvSpPr>
        <p:spPr>
          <a:xfrm>
            <a:off x="594360" y="3657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EF7"/>
                </a:solidFill>
              </a:rPr>
              <a:t>Solves a problem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EF7"/>
                </a:solidFill>
              </a:rPr>
              <a:t>Provides value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EF7"/>
                </a:solidFill>
              </a:rPr>
              <a:t>Unique choice</a:t>
            </a:r>
            <a:endParaRPr lang="en-US" sz="1150" dirty="0"/>
          </a:p>
        </p:txBody>
      </p:sp>
      <p:sp>
        <p:nvSpPr>
          <p:cNvPr id="33" name="Revenue Model label"/>
          <p:cNvSpPr/>
          <p:nvPr/>
        </p:nvSpPr>
        <p:spPr>
          <a:xfrm>
            <a:off x="3246120" y="3310128"/>
            <a:ext cx="2560320" cy="274320"/>
          </a:xfrm>
          <a:prstGeom prst="roundRect">
            <a:avLst>
              <a:gd name="adj" fmla="val 16667"/>
            </a:avLst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Revenue Model label text"/>
          <p:cNvSpPr txBox="1"/>
          <p:nvPr/>
        </p:nvSpPr>
        <p:spPr>
          <a:xfrm>
            <a:off x="324612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Revenue Model</a:t>
            </a:r>
            <a:endParaRPr lang="en-US" sz="1100" dirty="0"/>
          </a:p>
        </p:txBody>
      </p:sp>
      <p:sp>
        <p:nvSpPr>
          <p:cNvPr id="35" name="Revenue Model items"/>
          <p:cNvSpPr txBox="1"/>
          <p:nvPr/>
        </p:nvSpPr>
        <p:spPr>
          <a:xfrm>
            <a:off x="3337560" y="3657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EF7"/>
                </a:solidFill>
              </a:rPr>
              <a:t>One-time subscription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EF7"/>
                </a:solidFill>
              </a:rPr>
              <a:t>Easy to handle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EF7"/>
                </a:solidFill>
              </a:rPr>
              <a:t>Enterprise licensing</a:t>
            </a:r>
            <a:endParaRPr lang="en-US" sz="1150" dirty="0"/>
          </a:p>
        </p:txBody>
      </p:sp>
      <p:sp>
        <p:nvSpPr>
          <p:cNvPr id="36" name="Major Costs label"/>
          <p:cNvSpPr/>
          <p:nvPr/>
        </p:nvSpPr>
        <p:spPr>
          <a:xfrm>
            <a:off x="5989320" y="3310128"/>
            <a:ext cx="2560320" cy="274320"/>
          </a:xfrm>
          <a:prstGeom prst="roundRect">
            <a:avLst>
              <a:gd name="adj" fmla="val 16667"/>
            </a:avLst>
          </a:prstGeom>
          <a:solidFill>
            <a:srgbClr val="2E6DA4"/>
          </a:solidFill>
          <a:ln w="635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Major Costs label text"/>
          <p:cNvSpPr txBox="1"/>
          <p:nvPr/>
        </p:nvSpPr>
        <p:spPr>
          <a:xfrm>
            <a:off x="598932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Major Costs</a:t>
            </a:r>
            <a:endParaRPr lang="en-US" sz="1100" dirty="0"/>
          </a:p>
        </p:txBody>
      </p:sp>
      <p:sp>
        <p:nvSpPr>
          <p:cNvPr id="38" name="Major Costs items"/>
          <p:cNvSpPr txBox="1"/>
          <p:nvPr/>
        </p:nvSpPr>
        <p:spPr>
          <a:xfrm>
            <a:off x="6080760" y="3657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EF7"/>
                </a:solidFill>
              </a:rPr>
              <a:t>API &amp; cloud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EF7"/>
                </a:solidFill>
              </a:rPr>
              <a:t>Development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6EEF7"/>
                </a:solidFill>
              </a:rPr>
              <a:t>Marketing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 you"/>
          <p:cNvSpPr txBox="1"/>
          <p:nvPr/>
        </p:nvSpPr>
        <p:spPr>
          <a:xfrm>
            <a:off x="0" y="173736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Subtitle"/>
          <p:cNvSpPr txBox="1"/>
          <p:nvPr/>
        </p:nvSpPr>
        <p:spPr>
          <a:xfrm>
            <a:off x="0" y="339031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EEF7"/>
                </a:solidFill>
              </a:rPr>
              <a:t>Questions and Discussion</a:t>
            </a:r>
            <a:endParaRPr lang="en-US" sz="1800" dirty="0"/>
          </a:p>
        </p:txBody>
      </p:sp>
      <p:sp>
        <p:nvSpPr>
          <p:cNvPr id="4" name="Team credit"/>
          <p:cNvSpPr txBox="1"/>
          <p:nvPr/>
        </p:nvSpPr>
        <p:spPr>
          <a:xfrm>
            <a:off x="-49237" y="2609557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3A71B"/>
                </a:solidFill>
              </a:rPr>
              <a:t>by Team TryAgain</a:t>
            </a:r>
            <a:endParaRPr lang="en-US" sz="1800" dirty="0"/>
          </a:p>
        </p:txBody>
      </p:sp>
      <p:sp>
        <p:nvSpPr>
          <p:cNvPr id="5" name="Tagline"/>
          <p:cNvSpPr txBox="1"/>
          <p:nvPr/>
        </p:nvSpPr>
        <p:spPr>
          <a:xfrm>
            <a:off x="865163" y="506437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2B5C9"/>
                </a:solidFill>
              </a:rPr>
              <a:t>"When the rain becomes city-wide emergency, AURA comes into play."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RA BuildFest">
  <a:themeElements>
    <a:clrScheme name="AURA BuildFest">
      <a:dk1>
        <a:srgbClr val="0A1626"/>
      </a:dk1>
      <a:lt1>
        <a:srgbClr val="FFFFFF"/>
      </a:lt1>
      <a:dk2>
        <a:srgbClr val="14284B"/>
      </a:dk2>
      <a:lt2>
        <a:srgbClr val="E6EEF7"/>
      </a:lt2>
      <a:accent1>
        <a:srgbClr val="2E6DA4"/>
      </a:accent1>
      <a:accent2>
        <a:srgbClr val="B08010"/>
      </a:accent2>
      <a:accent3>
        <a:srgbClr val="22B5C9"/>
      </a:accent3>
      <a:accent4>
        <a:srgbClr val="F2A93B"/>
      </a:accent4>
      <a:accent5>
        <a:srgbClr val="E0414B"/>
      </a:accent5>
      <a:accent6>
        <a:srgbClr val="3FBF8F"/>
      </a:accent6>
      <a:hlink>
        <a:srgbClr val="22B5C9"/>
      </a:hlink>
      <a:folHlink>
        <a:srgbClr val="8FA8C4"/>
      </a:folHlink>
    </a:clrScheme>
    <a:fontScheme name="AURA BuildFes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770</Words>
  <Application>Microsoft Office PowerPoint</Application>
  <PresentationFormat>On-screen Show (16:9)</PresentationFormat>
  <Paragraphs>125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AURA BuildFest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- BuildFest 2.0</dc:title>
  <dc:subject>PptxGenJS Presentation</dc:subject>
  <dc:creator>Team AURA</dc:creator>
  <cp:lastModifiedBy>Vanshika Vanshika</cp:lastModifiedBy>
  <cp:revision>4</cp:revision>
  <dcterms:created xsi:type="dcterms:W3CDTF">2026-10-14T10:06:33Z</dcterms:created>
  <dcterms:modified xsi:type="dcterms:W3CDTF">2026-10-14T10:26:06Z</dcterms:modified>
</cp:coreProperties>
</file>